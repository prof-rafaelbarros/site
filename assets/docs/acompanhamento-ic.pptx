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66" r:id="rId2"/>
    <p:sldId id="258" r:id="rId3"/>
    <p:sldId id="388" r:id="rId4"/>
    <p:sldId id="400" r:id="rId5"/>
    <p:sldId id="401" r:id="rId6"/>
    <p:sldId id="395" r:id="rId7"/>
    <p:sldId id="396" r:id="rId8"/>
    <p:sldId id="389" r:id="rId9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DEA5DC6-6E0A-4050-BDA0-1E552E0E46AC}">
          <p14:sldIdLst>
            <p14:sldId id="366"/>
            <p14:sldId id="258"/>
            <p14:sldId id="388"/>
            <p14:sldId id="400"/>
            <p14:sldId id="401"/>
            <p14:sldId id="395"/>
            <p14:sldId id="396"/>
            <p14:sldId id="3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 Barros" initials="RB" lastIdx="1" clrIdx="0">
    <p:extLst>
      <p:ext uri="{19B8F6BF-5375-455C-9EA6-DF929625EA0E}">
        <p15:presenceInfo xmlns:p15="http://schemas.microsoft.com/office/powerpoint/2012/main" userId="027f1f7e1388bb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B47"/>
    <a:srgbClr val="37C0D5"/>
    <a:srgbClr val="153A72"/>
    <a:srgbClr val="EEF2F5"/>
    <a:srgbClr val="6FBF44"/>
    <a:srgbClr val="EFB025"/>
    <a:srgbClr val="CC2435"/>
    <a:srgbClr val="FFFFFF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525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8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 snapToGrid="0">
      <p:cViewPr varScale="1">
        <p:scale>
          <a:sx n="58" d="100"/>
          <a:sy n="58" d="100"/>
        </p:scale>
        <p:origin x="3274" y="62"/>
      </p:cViewPr>
      <p:guideLst/>
    </p:cSldViewPr>
  </p:notes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784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Anotações 10">
            <a:extLst>
              <a:ext uri="{FF2B5EF4-FFF2-40B4-BE49-F238E27FC236}">
                <a16:creationId xmlns:a16="http://schemas.microsoft.com/office/drawing/2014/main" id="{B4E3F2B7-ED75-4AD2-B0D3-B69335F09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926014"/>
            <a:ext cx="5683250" cy="4029075"/>
          </a:xfrm>
          <a:prstGeom prst="rect">
            <a:avLst/>
          </a:prstGeom>
        </p:spPr>
        <p:txBody>
          <a:bodyPr vert="horz" lIns="91428" tIns="45714" rIns="91428" bIns="4571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9563FD11-F3A1-4171-BBD0-9DB56B292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5BD60-BB0A-4559-9C31-13102C3C110C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6843CF90-2976-4BE4-8B71-565F8832215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65F7B-BFC3-4907-AF3B-66263479A85C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14" name="Espaço Reservado para Cabeçalho 13">
            <a:extLst>
              <a:ext uri="{FF2B5EF4-FFF2-40B4-BE49-F238E27FC236}">
                <a16:creationId xmlns:a16="http://schemas.microsoft.com/office/drawing/2014/main" id="{31709DD4-E4F2-49A8-BA15-47F4861637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15" name="Espaço Reservado para Imagem de Slide 14">
            <a:extLst>
              <a:ext uri="{FF2B5EF4-FFF2-40B4-BE49-F238E27FC236}">
                <a16:creationId xmlns:a16="http://schemas.microsoft.com/office/drawing/2014/main" id="{30545DC3-9EEA-4CC8-8407-09EAFFB15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251275F2-B368-4E3D-8E23-B9D2E56110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64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CF8C221-2D29-EACC-5210-5A972D971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8103" y="415099"/>
            <a:ext cx="2475191" cy="1164437"/>
          </a:xfrm>
          <a:prstGeom prst="rect">
            <a:avLst/>
          </a:prstGeom>
        </p:spPr>
      </p:pic>
      <p:sp>
        <p:nvSpPr>
          <p:cNvPr id="8" name="Paralelogramo 7">
            <a:extLst>
              <a:ext uri="{FF2B5EF4-FFF2-40B4-BE49-F238E27FC236}">
                <a16:creationId xmlns:a16="http://schemas.microsoft.com/office/drawing/2014/main" id="{DA8FE750-0D76-F409-C5EB-27E82CA8EF0B}"/>
              </a:ext>
            </a:extLst>
          </p:cNvPr>
          <p:cNvSpPr/>
          <p:nvPr userDrawn="1"/>
        </p:nvSpPr>
        <p:spPr>
          <a:xfrm flipH="1">
            <a:off x="2037137" y="0"/>
            <a:ext cx="3557804" cy="6858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FAEA43-90D9-4AC6-B982-83ECF633C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A236F4-B5FD-4D21-9073-3E795B347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AF4A4-28D5-479A-8ACB-1178721F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8F3-BDCF-429A-89A0-C7EADF602504}" type="datetime1">
              <a:rPr lang="pt-BR" smtClean="0"/>
              <a:t>09/10/2026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F58D1B-78CD-4861-8CF5-FA29AB9D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4F98E7-3D2D-4B35-877E-950B64E3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pPr/>
              <a:t>‹nº›</a:t>
            </a:fld>
            <a:r>
              <a:rPr lang="pt-BR" dirty="0"/>
              <a:t> </a:t>
            </a:r>
          </a:p>
        </p:txBody>
      </p:sp>
      <p:sp>
        <p:nvSpPr>
          <p:cNvPr id="10" name="Fluxograma: Entrada Manual 9">
            <a:extLst>
              <a:ext uri="{FF2B5EF4-FFF2-40B4-BE49-F238E27FC236}">
                <a16:creationId xmlns:a16="http://schemas.microsoft.com/office/drawing/2014/main" id="{E129A6FE-3385-327C-D3F7-1CA047F01747}"/>
              </a:ext>
            </a:extLst>
          </p:cNvPr>
          <p:cNvSpPr/>
          <p:nvPr userDrawn="1"/>
        </p:nvSpPr>
        <p:spPr>
          <a:xfrm rot="5400000">
            <a:off x="-2654559" y="2654559"/>
            <a:ext cx="6858000" cy="1548882"/>
          </a:xfrm>
          <a:prstGeom prst="flowChartManualInput">
            <a:avLst/>
          </a:prstGeom>
          <a:solidFill>
            <a:srgbClr val="142B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0A43C85E-5C31-3443-C16A-DF33A2E428DB}"/>
              </a:ext>
            </a:extLst>
          </p:cNvPr>
          <p:cNvSpPr/>
          <p:nvPr userDrawn="1"/>
        </p:nvSpPr>
        <p:spPr>
          <a:xfrm flipH="1">
            <a:off x="693203" y="0"/>
            <a:ext cx="2230669" cy="6858000"/>
          </a:xfrm>
          <a:prstGeom prst="parallelogram">
            <a:avLst>
              <a:gd name="adj" fmla="val 38247"/>
            </a:avLst>
          </a:prstGeom>
          <a:solidFill>
            <a:srgbClr val="37C0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46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FB4FE4E-27CB-52FE-8606-05FCE63F3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8103" y="413893"/>
            <a:ext cx="2475191" cy="116443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59E15A-B99E-46DF-84D2-1A9DC357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85875" cy="1325563"/>
          </a:xfrm>
        </p:spPr>
        <p:txBody>
          <a:bodyPr>
            <a:normAutofit/>
          </a:bodyPr>
          <a:lstStyle>
            <a:lvl1pPr>
              <a:defRPr sz="40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4A137-F809-4B33-9286-EC67A65EC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just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378FEEE-FAB0-4F2E-B918-8DA829783E61}"/>
              </a:ext>
            </a:extLst>
          </p:cNvPr>
          <p:cNvCxnSpPr>
            <a:cxnSpLocks/>
          </p:cNvCxnSpPr>
          <p:nvPr userDrawn="1"/>
        </p:nvCxnSpPr>
        <p:spPr>
          <a:xfrm flipV="1">
            <a:off x="393039" y="6373305"/>
            <a:ext cx="11394000" cy="1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ço Reservado para Rodapé 8">
            <a:extLst>
              <a:ext uri="{FF2B5EF4-FFF2-40B4-BE49-F238E27FC236}">
                <a16:creationId xmlns:a16="http://schemas.microsoft.com/office/drawing/2014/main" id="{75BD3F02-36B0-47C7-A7F2-6E04805B63DF}"/>
              </a:ext>
            </a:extLst>
          </p:cNvPr>
          <p:cNvSpPr txBox="1">
            <a:spLocks/>
          </p:cNvSpPr>
          <p:nvPr userDrawn="1"/>
        </p:nvSpPr>
        <p:spPr>
          <a:xfrm>
            <a:off x="489101" y="6433960"/>
            <a:ext cx="8858099" cy="298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Reunião Mensal de Acompanhamento de Projetos</a:t>
            </a:r>
          </a:p>
        </p:txBody>
      </p:sp>
      <p:sp>
        <p:nvSpPr>
          <p:cNvPr id="20" name="Espaço Reservado para Número de Slide 9">
            <a:extLst>
              <a:ext uri="{FF2B5EF4-FFF2-40B4-BE49-F238E27FC236}">
                <a16:creationId xmlns:a16="http://schemas.microsoft.com/office/drawing/2014/main" id="{924B5C7D-D26A-4A2F-ADAF-EA091B6AA6B2}"/>
              </a:ext>
            </a:extLst>
          </p:cNvPr>
          <p:cNvSpPr txBox="1">
            <a:spLocks/>
          </p:cNvSpPr>
          <p:nvPr userDrawn="1"/>
        </p:nvSpPr>
        <p:spPr>
          <a:xfrm>
            <a:off x="9112800" y="6432372"/>
            <a:ext cx="2689700" cy="290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4EFC78-D6D1-4AEA-9EEB-FDC65247217A}" type="slidenum">
              <a:rPr lang="pt-BR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‹nº›</a:t>
            </a:fld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C2DC43-E0DF-BAEA-FB71-E8C2CD0111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0291" t="1913"/>
          <a:stretch>
            <a:fillRect/>
          </a:stretch>
        </p:blipFill>
        <p:spPr>
          <a:xfrm>
            <a:off x="0" y="347542"/>
            <a:ext cx="407084" cy="61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4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4DA56-DB20-4B42-A20E-C08D9F5F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B78794-A3FC-45D3-A230-FF93865D5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ACA112-E268-44A5-97E9-0756E4D0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0222-2757-4AD9-805B-737A22430EDC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9FDF09-6157-4F19-B6AB-8CC85E61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772959-C401-49C6-9AFE-DD0820E7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15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85C0-142F-4141-9BE5-635AB987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E10C00-29F2-4F9E-860B-42F96B6C8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DB7B76-EDCB-40ED-A5C4-450FA461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5D8780-FDD8-4836-8BA6-787C50F0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D4B6-DAA8-4D4C-A1A0-7D33B5464C81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C24FD9-8940-4848-ABDA-C668A91E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2D48BA-010E-4A31-A93F-3E385E1D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22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06B6F-9715-4765-8EA4-4C25DDAB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6E1B95-5AC0-4084-8FEE-E44B9F876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D5848B-87A0-4799-B57D-6CD92E34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C49AEB-F701-4D62-A6B5-4B857C623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D86083-B6B4-4AF8-89C9-95CF5E5F8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22E657-24F4-4805-8BF3-AB26EB91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2D18-03FA-458D-AC61-3C55B2CD7546}" type="datetime1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19CC36-6BBE-440B-BC49-F4A05B5D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2C9292-ED63-4599-97E2-7D39AA81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7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E5F57-268D-4832-9E8A-D1BCDB36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2B8830-EF91-4348-89D1-1127668D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8B378-D018-4E75-BB2D-DA8A488BFE62}" type="datetime1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16F98E-DA16-42D1-A65E-A4D3A0F4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42F801-EE6F-4F5B-B889-FFEE7DA6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5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6070BE-7079-47DD-B14F-706FEF09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38E8-3268-4266-90AD-DEA017874716}" type="datetime1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B894F2-8141-4DBE-BBE1-37924320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557927-04DC-48D0-A703-5121BA59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54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609C-9523-4D3E-AA28-CDEDBF07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FFD8B2-CF0C-49AC-AFFE-B97DE373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8B84AC-5915-4A0F-A605-1712FF675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A3D18E-52EA-4A57-A0F0-762EE417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9C78A-4B58-4A97-8CBA-A1CFC36223FA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7A5B05-3394-4211-B613-43B20A31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31A7CA-AC15-4E8B-B078-570E7CB4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40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9D17-C99F-4128-B7F6-C6FF777D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4F27C0-F059-4FCD-BB08-E11AE3D9E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1CFBF1-CDD8-4873-94AF-AA5CE0127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3E00A4-CA33-4F1D-A2E8-8AA1AD8E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AF5D-9C5F-4432-88A6-1909B437B089}" type="datetime1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C909E9-F9CC-4267-8A29-19F50C1D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0C6709-33A1-4222-82C3-43D09540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67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4A841-18FD-4D2E-975E-EC36051F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8B9E8F-9034-4F28-A9CA-D897D09AB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8A3EE1-FFCF-4FCB-A1EA-E4412448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9904E-A82F-4C36-AEF2-99AAC05274E4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7E564-52B7-44F4-B1F1-9CB766C8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196A04-768F-4368-B9FF-E7E49574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3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45D09E-8CA0-4756-8C1B-5D71FE783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67624C-204D-453B-89FD-5D2575532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04448-D2DD-494C-964E-C4632DCA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0402-2F3B-4934-9F85-D1DABF7367CE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BDF011-F1B9-4B5E-9026-3200E2A5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CBBAE0-1449-4C10-9DC8-491955E5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99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001FAE-211C-40BD-8CDE-69361D430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1111D1-167E-4B7D-9747-AA1139E2B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71920-669B-4228-85EB-87ABBF37B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440F3-B5C4-4167-851C-A555BC3FC408}" type="datetime1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D00CA4-3F83-4693-A234-F26D25CCC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Tese de doutorado - Rafael M. R. Barros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BDC034-1889-4C9E-ABE9-196BD2F56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FC78-D6D1-4AEA-9EEB-FDC6524721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52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>
            <a:extLst>
              <a:ext uri="{FF2B5EF4-FFF2-40B4-BE49-F238E27FC236}">
                <a16:creationId xmlns:a16="http://schemas.microsoft.com/office/drawing/2014/main" id="{D2AFB4FC-B6DA-4D30-A97A-F4D9533E062B}"/>
              </a:ext>
            </a:extLst>
          </p:cNvPr>
          <p:cNvSpPr txBox="1"/>
          <p:nvPr/>
        </p:nvSpPr>
        <p:spPr>
          <a:xfrm>
            <a:off x="3181567" y="2285618"/>
            <a:ext cx="8821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Título do Plano de Trabalho Título do Plano de Trabalho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37313C8-FADC-453A-B72B-C9ABAECDDCEE}"/>
              </a:ext>
            </a:extLst>
          </p:cNvPr>
          <p:cNvSpPr txBox="1"/>
          <p:nvPr/>
        </p:nvSpPr>
        <p:spPr>
          <a:xfrm>
            <a:off x="4404049" y="5657152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Aluno: Fulano(a) de tal</a:t>
            </a:r>
          </a:p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Orientador: Prof. Dr. Rafael M. R. Barros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244631-6740-31D0-7441-C7725A77A033}"/>
              </a:ext>
            </a:extLst>
          </p:cNvPr>
          <p:cNvSpPr txBox="1"/>
          <p:nvPr/>
        </p:nvSpPr>
        <p:spPr>
          <a:xfrm>
            <a:off x="3181566" y="4192227"/>
            <a:ext cx="7128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Apresentação de Resultados – Mês 6/12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4EF6C71-1014-CD90-B2CE-364423094304}"/>
              </a:ext>
            </a:extLst>
          </p:cNvPr>
          <p:cNvCxnSpPr>
            <a:cxnSpLocks/>
          </p:cNvCxnSpPr>
          <p:nvPr/>
        </p:nvCxnSpPr>
        <p:spPr>
          <a:xfrm>
            <a:off x="3241952" y="4104597"/>
            <a:ext cx="3240000" cy="0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67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20FEC-32AF-4350-ADE7-C592002B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/>
              <a:t>ROTEIRO</a:t>
            </a:r>
          </a:p>
        </p:txBody>
      </p:sp>
      <p:sp>
        <p:nvSpPr>
          <p:cNvPr id="13" name="Retângulo: Cantos Diagonais Arredondados 12">
            <a:extLst>
              <a:ext uri="{FF2B5EF4-FFF2-40B4-BE49-F238E27FC236}">
                <a16:creationId xmlns:a16="http://schemas.microsoft.com/office/drawing/2014/main" id="{8CD08336-7CD1-FF93-7E0C-C8E95B4C0D3C}"/>
              </a:ext>
            </a:extLst>
          </p:cNvPr>
          <p:cNvSpPr/>
          <p:nvPr/>
        </p:nvSpPr>
        <p:spPr>
          <a:xfrm>
            <a:off x="1189036" y="1825625"/>
            <a:ext cx="358504" cy="182335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11BF65-0980-4351-ACC6-956F71128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25625"/>
            <a:ext cx="10146102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Atividades Previstas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Atividades Realizadas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Cronograma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Próximos passos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7788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AB22A-A522-CF99-95C2-9141C3DD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Previstas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725DFB-9DFE-B6CB-047D-C8DB0F50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Previstas no plano de trabalho original: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Atividade 1;</a:t>
            </a:r>
          </a:p>
          <a:p>
            <a:pPr lvl="1"/>
            <a:r>
              <a:rPr lang="pt-BR" dirty="0"/>
              <a:t>Atividade 2;</a:t>
            </a:r>
          </a:p>
          <a:p>
            <a:pPr lvl="1"/>
            <a:r>
              <a:rPr lang="pt-BR" dirty="0"/>
              <a:t>Atividade 3.</a:t>
            </a:r>
          </a:p>
          <a:p>
            <a:pPr lvl="1"/>
            <a:endParaRPr lang="pt-BR" dirty="0"/>
          </a:p>
          <a:p>
            <a:pPr algn="l"/>
            <a:r>
              <a:rPr lang="pt-BR" dirty="0"/>
              <a:t>Demandadas no último acompanhamento (</a:t>
            </a:r>
            <a:r>
              <a:rPr lang="pt-BR" dirty="0" err="1"/>
              <a:t>Trello</a:t>
            </a:r>
            <a:r>
              <a:rPr lang="pt-BR" dirty="0"/>
              <a:t>):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Atividade 4;</a:t>
            </a:r>
          </a:p>
          <a:p>
            <a:pPr lvl="1"/>
            <a:r>
              <a:rPr lang="pt-BR" dirty="0"/>
              <a:t>Atividade 5;</a:t>
            </a:r>
          </a:p>
          <a:p>
            <a:pPr lvl="1"/>
            <a:r>
              <a:rPr lang="pt-BR" dirty="0"/>
              <a:t>Atividade 6.</a:t>
            </a:r>
          </a:p>
        </p:txBody>
      </p:sp>
    </p:spTree>
    <p:extLst>
      <p:ext uri="{BB962C8B-B14F-4D97-AF65-F5344CB8AC3E}">
        <p14:creationId xmlns:p14="http://schemas.microsoft.com/office/powerpoint/2010/main" val="21576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766E6-DF41-1E20-660C-286FEACF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C3C7D-47B5-E50B-4E59-91F4641C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Realizadas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9F0E9F-2AA8-59FB-97BF-D5C74E91B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Detalhar os resultados alcançados em cada atividade realizada;</a:t>
            </a:r>
          </a:p>
          <a:p>
            <a:endParaRPr lang="pt-BR" dirty="0"/>
          </a:p>
          <a:p>
            <a:r>
              <a:rPr lang="pt-BR" dirty="0"/>
              <a:t>Apresentar análises, discussões e conclusões sobre cada resultado;</a:t>
            </a:r>
          </a:p>
          <a:p>
            <a:endParaRPr lang="pt-BR" dirty="0"/>
          </a:p>
          <a:p>
            <a:r>
              <a:rPr lang="pt-BR" dirty="0"/>
              <a:t>Apresentar as dificuldades encontradas;</a:t>
            </a:r>
          </a:p>
          <a:p>
            <a:endParaRPr lang="pt-BR" dirty="0"/>
          </a:p>
          <a:p>
            <a:r>
              <a:rPr lang="pt-BR" dirty="0"/>
              <a:t>Caso não tenha sido realizada alguma atividade apresentar a justificativa e o que está sendo feito para contornar o problema.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16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A38B-8A09-F8A6-F694-C675264E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83D24-44EE-4470-7F85-DD4C1A59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Realizadas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0BD4D-CA05-F079-5FCC-D4090CA6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8426" cy="4351338"/>
          </a:xfrm>
        </p:spPr>
        <p:txBody>
          <a:bodyPr/>
          <a:lstStyle/>
          <a:p>
            <a:r>
              <a:rPr lang="pt-BR" dirty="0"/>
              <a:t>Resultados devem ser apresentados preferencialmente na forma de gráficos e tabelas: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Certifique-se de que os gráficos serão legíveis durante a projeção do slide e se possuem descrição da grandeza e unidade em cada eixo;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Utilize sempre fundo branco e padronize o estilo de gráficos em toda a apresentação.</a:t>
            </a:r>
          </a:p>
          <a:p>
            <a:pPr lvl="1"/>
            <a:endParaRPr lang="pt-BR" dirty="0"/>
          </a:p>
        </p:txBody>
      </p:sp>
      <p:pic>
        <p:nvPicPr>
          <p:cNvPr id="4" name="Imagem 3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D926E71E-F2D2-8533-0693-E08D79132B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94" t="25534" r="1550" b="32704"/>
          <a:stretch/>
        </p:blipFill>
        <p:spPr>
          <a:xfrm>
            <a:off x="7352519" y="1889505"/>
            <a:ext cx="4233225" cy="408555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84EC923-6E76-39DF-1EC2-6B65C9B41908}"/>
              </a:ext>
            </a:extLst>
          </p:cNvPr>
          <p:cNvSpPr txBox="1"/>
          <p:nvPr/>
        </p:nvSpPr>
        <p:spPr>
          <a:xfrm>
            <a:off x="7148625" y="1578917"/>
            <a:ext cx="464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Figura 1 – Utilização de diferentes tipos de gráficos.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D43655-731B-3D94-F0F3-5021DDC260EE}"/>
              </a:ext>
            </a:extLst>
          </p:cNvPr>
          <p:cNvSpPr txBox="1"/>
          <p:nvPr/>
        </p:nvSpPr>
        <p:spPr>
          <a:xfrm>
            <a:off x="7996888" y="5954063"/>
            <a:ext cx="294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Fonte: Autoria própria.</a:t>
            </a:r>
          </a:p>
        </p:txBody>
      </p:sp>
    </p:spTree>
    <p:extLst>
      <p:ext uri="{BB962C8B-B14F-4D97-AF65-F5344CB8AC3E}">
        <p14:creationId xmlns:p14="http://schemas.microsoft.com/office/powerpoint/2010/main" val="421029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B6FC4-ADBA-FB48-BC5F-5B220E80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B31C0C0-363A-C043-0439-6892A31F2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807" y="531273"/>
            <a:ext cx="3401863" cy="9754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E87F80-69E2-882C-430F-ABFF7810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085EEE8-C274-9D7C-93C5-D46F7B7B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51371"/>
              </p:ext>
            </p:extLst>
          </p:nvPr>
        </p:nvGraphicFramePr>
        <p:xfrm>
          <a:off x="606000" y="2044370"/>
          <a:ext cx="11340000" cy="284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28000">
                  <a:extLst>
                    <a:ext uri="{9D8B030D-6E8A-4147-A177-3AD203B41FA5}">
                      <a16:colId xmlns:a16="http://schemas.microsoft.com/office/drawing/2014/main" val="186747994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5063314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40035955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2748196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280054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51106481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869540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915651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4602827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0878137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0849163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9117741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76991083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Mês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6007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9402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8055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8496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389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  <a:endParaRPr kumimoji="0" lang="pt-B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1159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696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🕒</a:t>
                      </a:r>
                      <a:endParaRPr lang="pt-BR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51619"/>
                  </a:ext>
                </a:extLst>
              </a:tr>
            </a:tbl>
          </a:graphicData>
        </a:graphic>
      </p:graphicFrame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78CC8C5-E382-88F5-953D-4ADB8540E549}"/>
              </a:ext>
            </a:extLst>
          </p:cNvPr>
          <p:cNvSpPr/>
          <p:nvPr/>
        </p:nvSpPr>
        <p:spPr>
          <a:xfrm>
            <a:off x="7933983" y="1653617"/>
            <a:ext cx="500333" cy="37947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7F00427-5FD3-B4C4-2873-FA64D266A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95" r="23054" b="45489"/>
          <a:stretch/>
        </p:blipFill>
        <p:spPr>
          <a:xfrm>
            <a:off x="6865738" y="1027906"/>
            <a:ext cx="252000" cy="25461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FE77E37-7E1F-3F02-E2DF-506C93695118}"/>
              </a:ext>
            </a:extLst>
          </p:cNvPr>
          <p:cNvSpPr txBox="1"/>
          <p:nvPr/>
        </p:nvSpPr>
        <p:spPr>
          <a:xfrm>
            <a:off x="1317653" y="1432671"/>
            <a:ext cx="11645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🕒 Programada</a:t>
            </a:r>
          </a:p>
          <a:p>
            <a:r>
              <a:rPr lang="pt-BR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Concluída</a:t>
            </a:r>
          </a:p>
          <a:p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❌ Atrasada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1DDBA40-5F09-26B5-5513-394CC9A20816}"/>
              </a:ext>
            </a:extLst>
          </p:cNvPr>
          <p:cNvSpPr txBox="1"/>
          <p:nvPr/>
        </p:nvSpPr>
        <p:spPr>
          <a:xfrm>
            <a:off x="606000" y="1430941"/>
            <a:ext cx="7397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Arial" panose="020B0604020202020204" pitchFamily="34" charset="0"/>
                <a:cs typeface="Arial" panose="020B0604020202020204" pitchFamily="34" charset="0"/>
              </a:rPr>
              <a:t>Legenda:</a:t>
            </a:r>
          </a:p>
        </p:txBody>
      </p:sp>
    </p:spTree>
    <p:extLst>
      <p:ext uri="{BB962C8B-B14F-4D97-AF65-F5344CB8AC3E}">
        <p14:creationId xmlns:p14="http://schemas.microsoft.com/office/powerpoint/2010/main" val="252741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AA0E-94D9-5511-37DE-AB010DE4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377E9-FD5B-8B25-3402-804B15E9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5ED5E-9987-6F0D-5EB3-11F94A5C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partir do cronograma geral e do estágio atual do projeto, informar quais serão as atividades realizadas no próximo mês.</a:t>
            </a:r>
          </a:p>
          <a:p>
            <a:pPr lvl="1"/>
            <a:endParaRPr lang="pt-BR" dirty="0"/>
          </a:p>
          <a:p>
            <a:r>
              <a:rPr lang="pt-BR" dirty="0"/>
              <a:t>Coloque esta apresentação na sua pasta individual no drive do GSEL, renomeando o nome do arquivo para identificar o nome do(a) aluno(a) e mês </a:t>
            </a:r>
            <a:r>
              <a:rPr lang="pt-BR"/>
              <a:t>de referência. 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47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0A2B-2334-57A5-0761-1C833613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>
            <a:extLst>
              <a:ext uri="{FF2B5EF4-FFF2-40B4-BE49-F238E27FC236}">
                <a16:creationId xmlns:a16="http://schemas.microsoft.com/office/drawing/2014/main" id="{A661F871-1BDF-B642-12D7-4A6CE62B0CEB}"/>
              </a:ext>
            </a:extLst>
          </p:cNvPr>
          <p:cNvSpPr txBox="1"/>
          <p:nvPr/>
        </p:nvSpPr>
        <p:spPr>
          <a:xfrm>
            <a:off x="3091920" y="1601377"/>
            <a:ext cx="88210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latin typeface="Arial" panose="020B0604020202020204" pitchFamily="34" charset="0"/>
                <a:cs typeface="Arial" panose="020B0604020202020204" pitchFamily="34" charset="0"/>
              </a:rPr>
              <a:t>Obrigado pela atenção!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ADB4F10-4589-0991-9BF6-AEB65A3E1BAE}"/>
              </a:ext>
            </a:extLst>
          </p:cNvPr>
          <p:cNvSpPr txBox="1"/>
          <p:nvPr/>
        </p:nvSpPr>
        <p:spPr>
          <a:xfrm>
            <a:off x="3181567" y="3964124"/>
            <a:ext cx="527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Fulano(a) de tal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BA4772B0-49CF-78B6-158B-EB144484C6B1}"/>
              </a:ext>
            </a:extLst>
          </p:cNvPr>
          <p:cNvCxnSpPr>
            <a:cxnSpLocks/>
          </p:cNvCxnSpPr>
          <p:nvPr/>
        </p:nvCxnSpPr>
        <p:spPr>
          <a:xfrm>
            <a:off x="3250578" y="3725035"/>
            <a:ext cx="3240000" cy="0"/>
          </a:xfrm>
          <a:prstGeom prst="line">
            <a:avLst/>
          </a:prstGeom>
          <a:ln>
            <a:solidFill>
              <a:srgbClr val="153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8C9535-05F3-3020-BF29-6FB23FF0B6EE}"/>
              </a:ext>
            </a:extLst>
          </p:cNvPr>
          <p:cNvSpPr txBox="1"/>
          <p:nvPr/>
        </p:nvSpPr>
        <p:spPr>
          <a:xfrm>
            <a:off x="3520316" y="4401513"/>
            <a:ext cx="3860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fulano@discente.ifpe.edu.br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1E08FD-6D0E-C88E-B438-B74F398CC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6456" y="4448860"/>
            <a:ext cx="243861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2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22578</TotalTime>
  <Words>333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ROTEIRO</vt:lpstr>
      <vt:lpstr>Atividades Previstas</vt:lpstr>
      <vt:lpstr>Atividades Realizadas</vt:lpstr>
      <vt:lpstr>Atividades Realizadas</vt:lpstr>
      <vt:lpstr>Cronograma</vt:lpstr>
      <vt:lpstr>Próximos Passos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Rocha</dc:creator>
  <cp:lastModifiedBy>Rafael Barros</cp:lastModifiedBy>
  <cp:revision>544</cp:revision>
  <cp:lastPrinted>2021-11-27T01:09:06Z</cp:lastPrinted>
  <dcterms:created xsi:type="dcterms:W3CDTF">2020-04-05T19:28:29Z</dcterms:created>
  <dcterms:modified xsi:type="dcterms:W3CDTF">2026-10-09T16:18:28Z</dcterms:modified>
</cp:coreProperties>
</file>