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66" r:id="rId2"/>
    <p:sldId id="258" r:id="rId3"/>
    <p:sldId id="388" r:id="rId4"/>
    <p:sldId id="395" r:id="rId5"/>
    <p:sldId id="396" r:id="rId6"/>
    <p:sldId id="390" r:id="rId7"/>
    <p:sldId id="391" r:id="rId8"/>
    <p:sldId id="392" r:id="rId9"/>
    <p:sldId id="397" r:id="rId10"/>
    <p:sldId id="393" r:id="rId11"/>
    <p:sldId id="394" r:id="rId12"/>
    <p:sldId id="398" r:id="rId13"/>
    <p:sldId id="389" r:id="rId14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DEA5DC6-6E0A-4050-BDA0-1E552E0E46AC}">
          <p14:sldIdLst>
            <p14:sldId id="366"/>
            <p14:sldId id="258"/>
            <p14:sldId id="388"/>
            <p14:sldId id="395"/>
            <p14:sldId id="396"/>
            <p14:sldId id="390"/>
            <p14:sldId id="391"/>
            <p14:sldId id="392"/>
            <p14:sldId id="397"/>
            <p14:sldId id="393"/>
            <p14:sldId id="394"/>
            <p14:sldId id="398"/>
            <p14:sldId id="3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B47"/>
    <a:srgbClr val="153A72"/>
    <a:srgbClr val="37C0D5"/>
    <a:srgbClr val="5C6B7A"/>
    <a:srgbClr val="80AA80"/>
    <a:srgbClr val="75A257"/>
    <a:srgbClr val="86AE6C"/>
    <a:srgbClr val="87AE6D"/>
    <a:srgbClr val="77A359"/>
    <a:srgbClr val="C3D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5256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8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 snapToGrid="0">
      <p:cViewPr varScale="1">
        <p:scale>
          <a:sx n="58" d="100"/>
          <a:sy n="58" d="100"/>
        </p:scale>
        <p:origin x="3274" y="62"/>
      </p:cViewPr>
      <p:guideLst/>
    </p:cSldViewPr>
  </p:notes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784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Anotações 10">
            <a:extLst>
              <a:ext uri="{FF2B5EF4-FFF2-40B4-BE49-F238E27FC236}">
                <a16:creationId xmlns:a16="http://schemas.microsoft.com/office/drawing/2014/main" id="{B4E3F2B7-ED75-4AD2-B0D3-B69335F09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200" y="4926014"/>
            <a:ext cx="5683250" cy="4029075"/>
          </a:xfrm>
          <a:prstGeom prst="rect">
            <a:avLst/>
          </a:prstGeom>
        </p:spPr>
        <p:txBody>
          <a:bodyPr vert="horz" lIns="91428" tIns="45714" rIns="91428" bIns="4571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9563FD11-F3A1-4171-BBD0-9DB56B292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5BD60-BB0A-4559-9C31-13102C3C110C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6843CF90-2976-4BE4-8B71-565F8832215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65F7B-BFC3-4907-AF3B-66263479A8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14" name="Espaço Reservado para Cabeçalho 13">
            <a:extLst>
              <a:ext uri="{FF2B5EF4-FFF2-40B4-BE49-F238E27FC236}">
                <a16:creationId xmlns:a16="http://schemas.microsoft.com/office/drawing/2014/main" id="{31709DD4-E4F2-49A8-BA15-47F4861637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15" name="Espaço Reservado para Imagem de Slide 14">
            <a:extLst>
              <a:ext uri="{FF2B5EF4-FFF2-40B4-BE49-F238E27FC236}">
                <a16:creationId xmlns:a16="http://schemas.microsoft.com/office/drawing/2014/main" id="{30545DC3-9EEA-4CC8-8407-09EAFFB15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251275F2-B368-4E3D-8E23-B9D2E56110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64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FFB07C4-F1CF-90E7-B2B6-BFE10FB3EE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8103" y="413893"/>
            <a:ext cx="2475191" cy="1164437"/>
          </a:xfrm>
          <a:prstGeom prst="rect">
            <a:avLst/>
          </a:prstGeom>
        </p:spPr>
      </p:pic>
      <p:sp>
        <p:nvSpPr>
          <p:cNvPr id="8" name="Paralelogramo 7">
            <a:extLst>
              <a:ext uri="{FF2B5EF4-FFF2-40B4-BE49-F238E27FC236}">
                <a16:creationId xmlns:a16="http://schemas.microsoft.com/office/drawing/2014/main" id="{DA8FE750-0D76-F409-C5EB-27E82CA8EF0B}"/>
              </a:ext>
            </a:extLst>
          </p:cNvPr>
          <p:cNvSpPr/>
          <p:nvPr userDrawn="1"/>
        </p:nvSpPr>
        <p:spPr>
          <a:xfrm flipH="1">
            <a:off x="2037137" y="0"/>
            <a:ext cx="3557804" cy="68580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FAEA43-90D9-4AC6-B982-83ECF633C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A236F4-B5FD-4D21-9073-3E795B347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AF4A4-28D5-479A-8ACB-1178721F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8F3-BDCF-429A-89A0-C7EADF602504}" type="datetime1">
              <a:rPr lang="pt-BR" smtClean="0"/>
              <a:t>09/10/2026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F58D1B-78CD-4861-8CF5-FA29AB9D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4F98E7-3D2D-4B35-877E-950B64E3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pPr/>
              <a:t>‹nº›</a:t>
            </a:fld>
            <a:r>
              <a:rPr lang="pt-BR" dirty="0"/>
              <a:t> </a:t>
            </a:r>
          </a:p>
        </p:txBody>
      </p:sp>
      <p:sp>
        <p:nvSpPr>
          <p:cNvPr id="10" name="Fluxograma: Entrada Manual 9">
            <a:extLst>
              <a:ext uri="{FF2B5EF4-FFF2-40B4-BE49-F238E27FC236}">
                <a16:creationId xmlns:a16="http://schemas.microsoft.com/office/drawing/2014/main" id="{8F6E2DA3-1DBD-F48A-3803-F25B7234CA91}"/>
              </a:ext>
            </a:extLst>
          </p:cNvPr>
          <p:cNvSpPr/>
          <p:nvPr userDrawn="1"/>
        </p:nvSpPr>
        <p:spPr>
          <a:xfrm rot="5400000">
            <a:off x="-2654559" y="2654559"/>
            <a:ext cx="6858000" cy="1548882"/>
          </a:xfrm>
          <a:prstGeom prst="flowChartManualInput">
            <a:avLst/>
          </a:prstGeom>
          <a:solidFill>
            <a:srgbClr val="142B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8BF65963-B11B-662F-2559-8A5787B35B02}"/>
              </a:ext>
            </a:extLst>
          </p:cNvPr>
          <p:cNvSpPr/>
          <p:nvPr userDrawn="1"/>
        </p:nvSpPr>
        <p:spPr>
          <a:xfrm flipH="1">
            <a:off x="693203" y="0"/>
            <a:ext cx="2230669" cy="6858000"/>
          </a:xfrm>
          <a:prstGeom prst="parallelogram">
            <a:avLst>
              <a:gd name="adj" fmla="val 38247"/>
            </a:avLst>
          </a:prstGeom>
          <a:solidFill>
            <a:srgbClr val="37C0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46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D94C318-350D-577A-8976-1070B766D2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7906" y="405524"/>
            <a:ext cx="2475191" cy="11644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59E15A-B99E-46DF-84D2-1A9DC357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85875" cy="1325563"/>
          </a:xfrm>
        </p:spPr>
        <p:txBody>
          <a:bodyPr>
            <a:normAutofit/>
          </a:bodyPr>
          <a:lstStyle>
            <a:lvl1pPr>
              <a:defRPr sz="40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4A137-F809-4B33-9286-EC67A65EC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 algn="just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378FEEE-FAB0-4F2E-B918-8DA829783E61}"/>
              </a:ext>
            </a:extLst>
          </p:cNvPr>
          <p:cNvCxnSpPr>
            <a:cxnSpLocks/>
          </p:cNvCxnSpPr>
          <p:nvPr userDrawn="1"/>
        </p:nvCxnSpPr>
        <p:spPr>
          <a:xfrm flipV="1">
            <a:off x="393039" y="6373305"/>
            <a:ext cx="11394000" cy="1"/>
          </a:xfrm>
          <a:prstGeom prst="line">
            <a:avLst/>
          </a:prstGeom>
          <a:ln>
            <a:solidFill>
              <a:srgbClr val="153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Rodapé 8">
            <a:extLst>
              <a:ext uri="{FF2B5EF4-FFF2-40B4-BE49-F238E27FC236}">
                <a16:creationId xmlns:a16="http://schemas.microsoft.com/office/drawing/2014/main" id="{75BD3F02-36B0-47C7-A7F2-6E04805B63DF}"/>
              </a:ext>
            </a:extLst>
          </p:cNvPr>
          <p:cNvSpPr txBox="1">
            <a:spLocks/>
          </p:cNvSpPr>
          <p:nvPr userDrawn="1"/>
        </p:nvSpPr>
        <p:spPr>
          <a:xfrm>
            <a:off x="489101" y="6433960"/>
            <a:ext cx="8634974" cy="298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de Pesquisa em Sistemas Elétricos – GSEL       |      IFPE </a:t>
            </a:r>
            <a:r>
              <a:rPr lang="pt-BR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Campus</a:t>
            </a:r>
            <a:r>
              <a:rPr lang="pt-BR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Garanhuns</a:t>
            </a:r>
          </a:p>
        </p:txBody>
      </p:sp>
      <p:sp>
        <p:nvSpPr>
          <p:cNvPr id="20" name="Espaço Reservado para Número de Slide 9">
            <a:extLst>
              <a:ext uri="{FF2B5EF4-FFF2-40B4-BE49-F238E27FC236}">
                <a16:creationId xmlns:a16="http://schemas.microsoft.com/office/drawing/2014/main" id="{924B5C7D-D26A-4A2F-ADAF-EA091B6AA6B2}"/>
              </a:ext>
            </a:extLst>
          </p:cNvPr>
          <p:cNvSpPr txBox="1">
            <a:spLocks/>
          </p:cNvSpPr>
          <p:nvPr userDrawn="1"/>
        </p:nvSpPr>
        <p:spPr>
          <a:xfrm>
            <a:off x="9112800" y="6432372"/>
            <a:ext cx="2689700" cy="290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4EFC78-D6D1-4AEA-9EEB-FDC65247217A}" type="slidenum">
              <a:rPr lang="pt-BR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CB4A56B-1588-ACFC-42B0-7D98709082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0291" t="1913"/>
          <a:stretch>
            <a:fillRect/>
          </a:stretch>
        </p:blipFill>
        <p:spPr>
          <a:xfrm>
            <a:off x="0" y="347542"/>
            <a:ext cx="407084" cy="61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4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4DA56-DB20-4B42-A20E-C08D9F5F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B78794-A3FC-45D3-A230-FF93865D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ACA112-E268-44A5-97E9-0756E4D0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0222-2757-4AD9-805B-737A22430EDC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9FDF09-6157-4F19-B6AB-8CC85E61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772959-C401-49C6-9AFE-DD0820E7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15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85C0-142F-4141-9BE5-635AB987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E10C00-29F2-4F9E-860B-42F96B6C8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DB7B76-EDCB-40ED-A5C4-450FA461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5D8780-FDD8-4836-8BA6-787C50F0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D4B6-DAA8-4D4C-A1A0-7D33B5464C81}" type="datetime1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C24FD9-8940-4848-ABDA-C668A91E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2D48BA-010E-4A31-A93F-3E385E1D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22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06B6F-9715-4765-8EA4-4C25DDAB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6E1B95-5AC0-4084-8FEE-E44B9F876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D5848B-87A0-4799-B57D-6CD92E34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C49AEB-F701-4D62-A6B5-4B857C623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D86083-B6B4-4AF8-89C9-95CF5E5F8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22E657-24F4-4805-8BF3-AB26EB91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2D18-03FA-458D-AC61-3C55B2CD7546}" type="datetime1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19CC36-6BBE-440B-BC49-F4A05B5D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2C9292-ED63-4599-97E2-7D39AA81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78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E5F57-268D-4832-9E8A-D1BCDB36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2B8830-EF91-4348-89D1-1127668D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8B378-D018-4E75-BB2D-DA8A488BFE62}" type="datetime1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16F98E-DA16-42D1-A65E-A4D3A0F4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42F801-EE6F-4F5B-B889-FFEE7DA6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5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6070BE-7079-47DD-B14F-706FEF09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38E8-3268-4266-90AD-DEA017874716}" type="datetime1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B894F2-8141-4DBE-BBE1-37924320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557927-04DC-48D0-A703-5121BA59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54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609C-9523-4D3E-AA28-CDEDBF07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FFD8B2-CF0C-49AC-AFFE-B97DE373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8B84AC-5915-4A0F-A605-1712FF675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A3D18E-52EA-4A57-A0F0-762EE417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9C78A-4B58-4A97-8CBA-A1CFC36223FA}" type="datetime1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7A5B05-3394-4211-B613-43B20A31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31A7CA-AC15-4E8B-B078-570E7CB4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40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9D17-C99F-4128-B7F6-C6FF777D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4F27C0-F059-4FCD-BB08-E11AE3D9E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1CFBF1-CDD8-4873-94AF-AA5CE0127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3E00A4-CA33-4F1D-A2E8-8AA1AD8E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AF5D-9C5F-4432-88A6-1909B437B089}" type="datetime1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C909E9-F9CC-4267-8A29-19F50C1D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0C6709-33A1-4222-82C3-43D09540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67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4A841-18FD-4D2E-975E-EC36051F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8B9E8F-9034-4F28-A9CA-D897D09AB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8A3EE1-FFCF-4FCB-A1EA-E4412448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9904E-A82F-4C36-AEF2-99AAC05274E4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57E564-52B7-44F4-B1F1-9CB766C8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196A04-768F-4368-B9FF-E7E49574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3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45D09E-8CA0-4756-8C1B-5D71FE783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67624C-204D-453B-89FD-5D2575532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804448-D2DD-494C-964E-C4632DCA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0402-2F3B-4934-9F85-D1DABF7367CE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BDF011-F1B9-4B5E-9026-3200E2A5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CBBAE0-1449-4C10-9DC8-491955E5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99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001FAE-211C-40BD-8CDE-69361D430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1111D1-167E-4B7D-9747-AA1139E2B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71920-669B-4228-85EB-87ABBF37B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440F3-B5C4-4167-851C-A555BC3FC408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D00CA4-3F83-4693-A234-F26D25CCC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Tese de doutorado - Rafael M. R. Barros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BDC034-1889-4C9E-ABE9-196BD2F56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52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nktr.ee/gselifp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>
            <a:extLst>
              <a:ext uri="{FF2B5EF4-FFF2-40B4-BE49-F238E27FC236}">
                <a16:creationId xmlns:a16="http://schemas.microsoft.com/office/drawing/2014/main" id="{D2AFB4FC-B6DA-4D30-A97A-F4D9533E062B}"/>
              </a:ext>
            </a:extLst>
          </p:cNvPr>
          <p:cNvSpPr txBox="1"/>
          <p:nvPr/>
        </p:nvSpPr>
        <p:spPr>
          <a:xfrm>
            <a:off x="3071501" y="1802798"/>
            <a:ext cx="88210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Título do Trabalho Título do Trabalho Título do Trabalho Título do Trabalho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37313C8-FADC-453A-B72B-C9ABAECDDCEE}"/>
              </a:ext>
            </a:extLst>
          </p:cNvPr>
          <p:cNvSpPr txBox="1"/>
          <p:nvPr/>
        </p:nvSpPr>
        <p:spPr>
          <a:xfrm>
            <a:off x="3181565" y="5070556"/>
            <a:ext cx="6690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Aluno: Fulano(a) de tal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Orientador: Prof. Dr. Rafael M. R. Barros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244631-6740-31D0-7441-C7725A77A033}"/>
              </a:ext>
            </a:extLst>
          </p:cNvPr>
          <p:cNvSpPr txBox="1"/>
          <p:nvPr/>
        </p:nvSpPr>
        <p:spPr>
          <a:xfrm>
            <a:off x="3181567" y="4192227"/>
            <a:ext cx="669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Projeto de Iniciação Científica (PIBIC)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D7C0D8-4CD9-39BF-AC71-A262FC70C0E8}"/>
              </a:ext>
            </a:extLst>
          </p:cNvPr>
          <p:cNvSpPr txBox="1"/>
          <p:nvPr/>
        </p:nvSpPr>
        <p:spPr>
          <a:xfrm>
            <a:off x="8668140" y="6257836"/>
            <a:ext cx="345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Garanhuns, julho de 2026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24EF6C71-1014-CD90-B2CE-364423094304}"/>
              </a:ext>
            </a:extLst>
          </p:cNvPr>
          <p:cNvCxnSpPr>
            <a:cxnSpLocks/>
          </p:cNvCxnSpPr>
          <p:nvPr/>
        </p:nvCxnSpPr>
        <p:spPr>
          <a:xfrm>
            <a:off x="3241952" y="4104597"/>
            <a:ext cx="3240000" cy="0"/>
          </a:xfrm>
          <a:prstGeom prst="line">
            <a:avLst/>
          </a:prstGeom>
          <a:ln>
            <a:solidFill>
              <a:srgbClr val="153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67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20FEC-32AF-4350-ADE7-C592002B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/>
              <a:t>ROTEIRO</a:t>
            </a:r>
          </a:p>
        </p:txBody>
      </p:sp>
      <p:sp>
        <p:nvSpPr>
          <p:cNvPr id="13" name="Retângulo: Cantos Diagonais Arredondados 12">
            <a:extLst>
              <a:ext uri="{FF2B5EF4-FFF2-40B4-BE49-F238E27FC236}">
                <a16:creationId xmlns:a16="http://schemas.microsoft.com/office/drawing/2014/main" id="{8CD08336-7CD1-FF93-7E0C-C8E95B4C0D3C}"/>
              </a:ext>
            </a:extLst>
          </p:cNvPr>
          <p:cNvSpPr/>
          <p:nvPr/>
        </p:nvSpPr>
        <p:spPr>
          <a:xfrm>
            <a:off x="1234986" y="1851503"/>
            <a:ext cx="324000" cy="269250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11BF65-0980-4351-ACC6-956F71128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25625"/>
            <a:ext cx="10146102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Introdução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Objetivos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Material e Métodos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Resultados e Discussões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Conclusões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Trabalhos Futuros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7788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AB22A-A522-CF99-95C2-9141C3DD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725DFB-9DFE-B6CB-047D-C8DB0F50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Introduzir o tema principal objeto de estudo no trabalho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 que é?</a:t>
            </a:r>
          </a:p>
          <a:p>
            <a:pPr lvl="1"/>
            <a:r>
              <a:rPr lang="pt-BR" dirty="0"/>
              <a:t>A quem interessa?</a:t>
            </a:r>
          </a:p>
          <a:p>
            <a:pPr lvl="1"/>
            <a:r>
              <a:rPr lang="pt-BR" dirty="0"/>
              <a:t>Qual é o problema?</a:t>
            </a:r>
          </a:p>
          <a:p>
            <a:pPr lvl="1"/>
            <a:endParaRPr lang="pt-BR" dirty="0"/>
          </a:p>
          <a:p>
            <a:pPr algn="l"/>
            <a:r>
              <a:rPr lang="pt-BR" dirty="0"/>
              <a:t>Apresentar informações que motivem o </a:t>
            </a:r>
            <a:br>
              <a:rPr lang="pt-BR" dirty="0"/>
            </a:br>
            <a:r>
              <a:rPr lang="pt-BR" dirty="0"/>
              <a:t>desenvolvimento do trabalho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Levantamentos quantitativos;</a:t>
            </a:r>
          </a:p>
          <a:p>
            <a:pPr lvl="1"/>
            <a:r>
              <a:rPr lang="pt-BR" dirty="0"/>
              <a:t>Dados estatísticos;</a:t>
            </a:r>
          </a:p>
          <a:p>
            <a:pPr lvl="1"/>
            <a:r>
              <a:rPr lang="pt-BR" dirty="0"/>
              <a:t>Dados financeiros.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081D80-A5C1-BA59-C6ED-E6212F5D1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732" y="3594977"/>
            <a:ext cx="3924818" cy="215543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D1C4E79-C9E7-0DD4-6610-1DB439D8C3CB}"/>
              </a:ext>
            </a:extLst>
          </p:cNvPr>
          <p:cNvSpPr txBox="1"/>
          <p:nvPr/>
        </p:nvSpPr>
        <p:spPr>
          <a:xfrm>
            <a:off x="7293733" y="3042572"/>
            <a:ext cx="3924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Figura 1 – Impacto Financeiro da Perda Não Técnica de Energia em diferentes países.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291BE8-6684-F771-BC02-D3B97279F983}"/>
              </a:ext>
            </a:extLst>
          </p:cNvPr>
          <p:cNvSpPr txBox="1"/>
          <p:nvPr/>
        </p:nvSpPr>
        <p:spPr>
          <a:xfrm>
            <a:off x="7783899" y="5799107"/>
            <a:ext cx="294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Fonte: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Northeast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(2017).</a:t>
            </a:r>
          </a:p>
        </p:txBody>
      </p:sp>
    </p:spTree>
    <p:extLst>
      <p:ext uri="{BB962C8B-B14F-4D97-AF65-F5344CB8AC3E}">
        <p14:creationId xmlns:p14="http://schemas.microsoft.com/office/powerpoint/2010/main" val="21576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B6FC4-ADBA-FB48-BC5F-5B220E80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87F80-69E2-882C-430F-ABFF7810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D03C1E-D174-ADD0-FC14-5494B2C17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Dicas gerais para a apresentação: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 slide serve apenas para ilustrar e guiar a sua apresentação, quem deve explicar é você, não o PowerPoint. Portanto, não escreva texto corrido nos slides;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Utilize </a:t>
            </a:r>
            <a:r>
              <a:rPr lang="pt-BR" dirty="0" err="1"/>
              <a:t>bullets</a:t>
            </a:r>
            <a:r>
              <a:rPr lang="pt-BR" dirty="0"/>
              <a:t> para registrar os tópicos que você precisa falar e imagens ou vídeos para ilustrar o que quer transmitir;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Evite slides densos, com muita informação. Se necessário divida as informações em mais de um slide;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Todas as figuras e tabelas que contenham dados precisam ter título e fonte. Imagens que sejam apenas ilustrações não precisam de título e fonte.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41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AA0E-94D9-5511-37DE-AB010DE4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377E9-FD5B-8B25-3402-804B15E9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5ED5E-9987-6F0D-5EB3-11F94A5C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Dicas gerais para a apresentação: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Dimensione a quantidade de slides para o tempo de apresentação. É necessário ensaiar a apresentação para garantir que ela está dimensionada ao tempo. Uma estimativa inicial é 1 slide / minuto (excetuando capa, roteiro e slide de agradecimento);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 maior parte do tempo de apresentação deve ser dedicada as seções: Material e Métodos e Resultados e Discussões;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Observe a sua postura e entonação de voz durante a apresentação. Mantenha-se em postura ereta e fale de maneira firme e pausada.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47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D5235-4388-770D-B8FD-B2E4FF7A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5B17A-C37B-98B1-3BE1-D0FA3F36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655F532-59CE-BC51-9529-D4B26D125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212" y="2734569"/>
            <a:ext cx="4095070" cy="3467823"/>
          </a:xfrm>
        </p:spPr>
        <p:txBody>
          <a:bodyPr>
            <a:normAutofit/>
          </a:bodyPr>
          <a:lstStyle/>
          <a:p>
            <a:pPr algn="l"/>
            <a:r>
              <a:rPr lang="pt-BR" sz="2000" dirty="0"/>
              <a:t>Considerando a motivação apresentada na introdução, descreva de forma sucinta o objetivo geral do trabalho.</a:t>
            </a:r>
          </a:p>
          <a:p>
            <a:pPr algn="l">
              <a:buFont typeface="Wingdings" panose="05000000000000000000" pitchFamily="2" charset="2"/>
              <a:buChar char="§"/>
            </a:pPr>
            <a:endParaRPr lang="pt-BR" sz="20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8A41E67-6064-8A90-E311-D893E190D800}"/>
              </a:ext>
            </a:extLst>
          </p:cNvPr>
          <p:cNvSpPr/>
          <p:nvPr/>
        </p:nvSpPr>
        <p:spPr>
          <a:xfrm>
            <a:off x="5470564" y="5206396"/>
            <a:ext cx="6721436" cy="7185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CB7A4A-6012-8D0F-A99F-7695BD413B50}"/>
              </a:ext>
            </a:extLst>
          </p:cNvPr>
          <p:cNvSpPr/>
          <p:nvPr/>
        </p:nvSpPr>
        <p:spPr>
          <a:xfrm>
            <a:off x="396814" y="1872469"/>
            <a:ext cx="3864467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20">
            <a:extLst>
              <a:ext uri="{FF2B5EF4-FFF2-40B4-BE49-F238E27FC236}">
                <a16:creationId xmlns:a16="http://schemas.microsoft.com/office/drawing/2014/main" id="{89F29D16-C708-B2E9-5580-AD62EA80B0E8}"/>
              </a:ext>
            </a:extLst>
          </p:cNvPr>
          <p:cNvSpPr>
            <a:spLocks noChangeAspect="1"/>
          </p:cNvSpPr>
          <p:nvPr/>
        </p:nvSpPr>
        <p:spPr>
          <a:xfrm>
            <a:off x="3901281" y="1872469"/>
            <a:ext cx="720000" cy="720000"/>
          </a:xfrm>
          <a:prstGeom prst="ellipse">
            <a:avLst/>
          </a:prstGeom>
          <a:solidFill>
            <a:srgbClr val="153A7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27">
            <a:extLst>
              <a:ext uri="{FF2B5EF4-FFF2-40B4-BE49-F238E27FC236}">
                <a16:creationId xmlns:a16="http://schemas.microsoft.com/office/drawing/2014/main" id="{C24CCB62-837B-6270-1F8F-E2AD9B4C6DD2}"/>
              </a:ext>
            </a:extLst>
          </p:cNvPr>
          <p:cNvSpPr>
            <a:spLocks noChangeAspect="1"/>
          </p:cNvSpPr>
          <p:nvPr/>
        </p:nvSpPr>
        <p:spPr>
          <a:xfrm>
            <a:off x="5110564" y="5204446"/>
            <a:ext cx="720000" cy="720000"/>
          </a:xfrm>
          <a:prstGeom prst="ellipse">
            <a:avLst/>
          </a:prstGeom>
          <a:solidFill>
            <a:srgbClr val="153A7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C1FBC28F-4AF9-0C1C-806F-B61896E44A7C}"/>
              </a:ext>
            </a:extLst>
          </p:cNvPr>
          <p:cNvSpPr txBox="1">
            <a:spLocks/>
          </p:cNvSpPr>
          <p:nvPr/>
        </p:nvSpPr>
        <p:spPr>
          <a:xfrm>
            <a:off x="1621613" y="1984774"/>
            <a:ext cx="2062920" cy="4953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1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Geral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8DB6A451-FEC3-4789-25EC-1DCBB8D785F2}"/>
              </a:ext>
            </a:extLst>
          </p:cNvPr>
          <p:cNvSpPr txBox="1">
            <a:spLocks/>
          </p:cNvSpPr>
          <p:nvPr/>
        </p:nvSpPr>
        <p:spPr>
          <a:xfrm>
            <a:off x="6096000" y="5316752"/>
            <a:ext cx="3445566" cy="4953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1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Específicos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5136F6B0-ADE9-5CFB-757B-7D109CAFFFEC}"/>
              </a:ext>
            </a:extLst>
          </p:cNvPr>
          <p:cNvSpPr txBox="1">
            <a:spLocks/>
          </p:cNvSpPr>
          <p:nvPr/>
        </p:nvSpPr>
        <p:spPr>
          <a:xfrm>
            <a:off x="5581290" y="1898689"/>
            <a:ext cx="6456829" cy="312188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Font typeface="+mj-lt"/>
              <a:buAutoNum type="arabicPeriod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Objetivo específico 1;</a:t>
            </a:r>
          </a:p>
          <a:p>
            <a:pPr marL="288000" indent="-288000">
              <a:buFont typeface="+mj-lt"/>
              <a:buAutoNum type="arabicPeriod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Objetivo específico 2;</a:t>
            </a:r>
          </a:p>
          <a:p>
            <a:pPr marL="288000" indent="-288000">
              <a:buFont typeface="+mj-lt"/>
              <a:buAutoNum type="arabicPeriod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Objetivo específico 3.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E8A0166-4E34-6A0F-DBB3-FE8131252C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1281" y="1955055"/>
            <a:ext cx="540000" cy="540000"/>
          </a:xfrm>
          <a:prstGeom prst="rect">
            <a:avLst/>
          </a:prstGeom>
        </p:spPr>
      </p:pic>
      <p:pic>
        <p:nvPicPr>
          <p:cNvPr id="15" name="Gráfico 4">
            <a:extLst>
              <a:ext uri="{FF2B5EF4-FFF2-40B4-BE49-F238E27FC236}">
                <a16:creationId xmlns:a16="http://schemas.microsoft.com/office/drawing/2014/main" id="{9D6E0362-D261-80F8-6404-0B51EFC81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5807" y="529444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FEEF8-4D4E-3E07-56BE-9C458459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B29B1-25F4-B835-8016-A1ECCB81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Material e 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44D29E-67E2-003E-48EA-7F63C9056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Apresentar, na forma de passo a passo todo o desenvolvimento do trabalho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Apresentar de forma didática; utilizar fluxogramas, imagens, etc. Exemplo:</a:t>
            </a:r>
          </a:p>
          <a:p>
            <a:pPr lvl="1"/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A98A2D2-33AD-4E66-B7FA-EE169D2FEEF1}"/>
              </a:ext>
            </a:extLst>
          </p:cNvPr>
          <p:cNvGrpSpPr/>
          <p:nvPr/>
        </p:nvGrpSpPr>
        <p:grpSpPr>
          <a:xfrm>
            <a:off x="1398335" y="3429000"/>
            <a:ext cx="9671371" cy="2247268"/>
            <a:chOff x="1355203" y="3429000"/>
            <a:chExt cx="9671371" cy="2247268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0907F885-6D73-09B6-78F2-823D43B79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5203" y="3798332"/>
              <a:ext cx="9671371" cy="1877936"/>
            </a:xfrm>
            <a:prstGeom prst="rect">
              <a:avLst/>
            </a:prstGeom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78D11B2-91C6-789E-5FC5-A0B63F3F73F0}"/>
                </a:ext>
              </a:extLst>
            </p:cNvPr>
            <p:cNvSpPr txBox="1"/>
            <p:nvPr/>
          </p:nvSpPr>
          <p:spPr>
            <a:xfrm>
              <a:off x="1768413" y="3429000"/>
              <a:ext cx="9057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Etapa 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0BBE3E20-E0B7-7312-F75C-8152E6E72015}"/>
                </a:ext>
              </a:extLst>
            </p:cNvPr>
            <p:cNvSpPr txBox="1"/>
            <p:nvPr/>
          </p:nvSpPr>
          <p:spPr>
            <a:xfrm>
              <a:off x="3623092" y="3429000"/>
              <a:ext cx="9057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Etapa 2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5AF5A60-F2E8-1876-3D55-A6343148D207}"/>
                </a:ext>
              </a:extLst>
            </p:cNvPr>
            <p:cNvSpPr txBox="1"/>
            <p:nvPr/>
          </p:nvSpPr>
          <p:spPr>
            <a:xfrm>
              <a:off x="5477771" y="3429000"/>
              <a:ext cx="9057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Etapa 3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42BC491-3198-7C4E-B20D-638404B5F8C3}"/>
                </a:ext>
              </a:extLst>
            </p:cNvPr>
            <p:cNvSpPr txBox="1"/>
            <p:nvPr/>
          </p:nvSpPr>
          <p:spPr>
            <a:xfrm>
              <a:off x="7712012" y="3429000"/>
              <a:ext cx="9057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Etapa 4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C4FA167-D118-BE36-9807-A2902B9C67AB}"/>
                </a:ext>
              </a:extLst>
            </p:cNvPr>
            <p:cNvSpPr txBox="1"/>
            <p:nvPr/>
          </p:nvSpPr>
          <p:spPr>
            <a:xfrm>
              <a:off x="9759059" y="3429000"/>
              <a:ext cx="9057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Etapa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76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5E2A-A97F-F984-8017-4B55BEC4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985F8-40E3-CC18-761A-8D89A04A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e Discussões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AFD5B-23FD-1433-D4F8-9553134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5566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Apresentar os resultados obtidos, e destacar os principais pontos de análise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Apresentar de forma didática, utilizando gráficos, tabelas, etc.;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Certifique-se de que os gráficos serão legíveis durante a projeção do slide e se possuem descrição da grandeza e unidade em cada eixo;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Utilize sempre fundo branco e padronize o estilo de gráfico em toda a apresentação.</a:t>
            </a:r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94F4936C-4523-3A7C-3C78-7BEB666A19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94" t="25534" r="1550" b="32704"/>
          <a:stretch/>
        </p:blipFill>
        <p:spPr>
          <a:xfrm>
            <a:off x="7007462" y="1889505"/>
            <a:ext cx="4233225" cy="408555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5244DCE-77D1-24A6-CE8F-E14C18DE4BF9}"/>
              </a:ext>
            </a:extLst>
          </p:cNvPr>
          <p:cNvSpPr txBox="1"/>
          <p:nvPr/>
        </p:nvSpPr>
        <p:spPr>
          <a:xfrm>
            <a:off x="6803568" y="1578917"/>
            <a:ext cx="464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Tabela 1 – Utilização de diferentes tipos de gráficos.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93AE21-D0FE-F73F-07AA-BCDA174412C5}"/>
              </a:ext>
            </a:extLst>
          </p:cNvPr>
          <p:cNvSpPr txBox="1"/>
          <p:nvPr/>
        </p:nvSpPr>
        <p:spPr>
          <a:xfrm>
            <a:off x="7651831" y="5954063"/>
            <a:ext cx="294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Fonte: Autoria própria.</a:t>
            </a:r>
          </a:p>
        </p:txBody>
      </p:sp>
    </p:spTree>
    <p:extLst>
      <p:ext uri="{BB962C8B-B14F-4D97-AF65-F5344CB8AC3E}">
        <p14:creationId xmlns:p14="http://schemas.microsoft.com/office/powerpoint/2010/main" val="176683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02C9-7F71-47EC-9DD7-C33844C7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891A0-95F6-5012-9634-A504D4C5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Produções Realizadas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64440E-C62B-F192-BB38-44416C4E0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 durante o projeto foram obtidas publicações, registros de propriedade intelectual ou participação em eventos, liste-os aqui. Caso contrário, deletar o slide.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Produção 1</a:t>
            </a:r>
          </a:p>
          <a:p>
            <a:pPr lvl="1"/>
            <a:r>
              <a:rPr lang="pt-BR" dirty="0"/>
              <a:t>Produção 2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719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FE4B-9046-C756-D5D0-20F77F65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A60FA-D1FC-01B4-B1C1-BEC21159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D4F6CD-F8AB-8334-1645-5CE57352E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Apresente quais são as contribuições do trabalho para a literatura, para a indústria ou para sociedade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Onde e como os resultados do trabalho podem ser aproveitados?</a:t>
            </a:r>
          </a:p>
          <a:p>
            <a:endParaRPr lang="pt-BR" dirty="0"/>
          </a:p>
          <a:p>
            <a:r>
              <a:rPr lang="pt-BR" dirty="0"/>
              <a:t>Discuta se os objetivos anunciados no início da apresentação foram alcançados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Caso não tenham sido alcançados, apresente os motivos;</a:t>
            </a:r>
          </a:p>
          <a:p>
            <a:pPr lvl="1"/>
            <a:r>
              <a:rPr lang="pt-BR" dirty="0"/>
              <a:t>Apresente dificuldades e outras informações importantes relativas ao desenvolvimento da pesquisa.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130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92C6-F080-FBB3-922F-83FC08466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67FFF-E162-FFA3-A478-08DBA55B4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Futuros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8B49B6-DB65-29D1-B45C-070293115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for uma apresentação parcial, apresente o cronograma geral do projeto, informando onde o trabalho se encontra no momento e quais os próximos passos;</a:t>
            </a:r>
          </a:p>
          <a:p>
            <a:endParaRPr lang="pt-BR" dirty="0"/>
          </a:p>
          <a:p>
            <a:r>
              <a:rPr lang="pt-BR" dirty="0"/>
              <a:t>Se for uma apresentação final, sugira melhorias ou novas atividades para o aprofundamento da pesquisa neste tema em trabalhos futuros.</a:t>
            </a:r>
          </a:p>
        </p:txBody>
      </p:sp>
    </p:spTree>
    <p:extLst>
      <p:ext uri="{BB962C8B-B14F-4D97-AF65-F5344CB8AC3E}">
        <p14:creationId xmlns:p14="http://schemas.microsoft.com/office/powerpoint/2010/main" val="276668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83D31-67BB-2DE3-D682-D2E76014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9771A3-73B4-8A53-906B-E06B35B56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Listar as referências utilizada nos slides anteriores.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92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0A2B-2334-57A5-0761-1C833613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>
            <a:extLst>
              <a:ext uri="{FF2B5EF4-FFF2-40B4-BE49-F238E27FC236}">
                <a16:creationId xmlns:a16="http://schemas.microsoft.com/office/drawing/2014/main" id="{A661F871-1BDF-B642-12D7-4A6CE62B0CEB}"/>
              </a:ext>
            </a:extLst>
          </p:cNvPr>
          <p:cNvSpPr txBox="1"/>
          <p:nvPr/>
        </p:nvSpPr>
        <p:spPr>
          <a:xfrm>
            <a:off x="3096900" y="1481833"/>
            <a:ext cx="5132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Obrigado pela atenção!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EADB4F10-4589-0991-9BF6-AEB65A3E1BAE}"/>
              </a:ext>
            </a:extLst>
          </p:cNvPr>
          <p:cNvSpPr txBox="1"/>
          <p:nvPr/>
        </p:nvSpPr>
        <p:spPr>
          <a:xfrm>
            <a:off x="3181567" y="4074191"/>
            <a:ext cx="375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Fulano(a) de tal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BA4772B0-49CF-78B6-158B-EB144484C6B1}"/>
              </a:ext>
            </a:extLst>
          </p:cNvPr>
          <p:cNvCxnSpPr>
            <a:cxnSpLocks/>
          </p:cNvCxnSpPr>
          <p:nvPr/>
        </p:nvCxnSpPr>
        <p:spPr>
          <a:xfrm>
            <a:off x="3181567" y="3614969"/>
            <a:ext cx="3240000" cy="0"/>
          </a:xfrm>
          <a:prstGeom prst="line">
            <a:avLst/>
          </a:prstGeom>
          <a:ln>
            <a:solidFill>
              <a:srgbClr val="153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8C9535-05F3-3020-BF29-6FB23FF0B6EE}"/>
              </a:ext>
            </a:extLst>
          </p:cNvPr>
          <p:cNvSpPr txBox="1"/>
          <p:nvPr/>
        </p:nvSpPr>
        <p:spPr>
          <a:xfrm>
            <a:off x="3181567" y="4511580"/>
            <a:ext cx="3517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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fulano@discente.ifpe.edu.br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2C1932-B085-AE8A-C0D7-EB04744776CC}"/>
              </a:ext>
            </a:extLst>
          </p:cNvPr>
          <p:cNvSpPr txBox="1"/>
          <p:nvPr/>
        </p:nvSpPr>
        <p:spPr>
          <a:xfrm>
            <a:off x="3181567" y="5127667"/>
            <a:ext cx="4345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Prof. Dr. Rafael M. R. Barros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083DC3-479A-C60F-55A4-E39365734016}"/>
              </a:ext>
            </a:extLst>
          </p:cNvPr>
          <p:cNvSpPr txBox="1"/>
          <p:nvPr/>
        </p:nvSpPr>
        <p:spPr>
          <a:xfrm>
            <a:off x="3181567" y="5531957"/>
            <a:ext cx="4133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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rafael.barros@garanhuns.ifpe.edu.br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B6D415-E3E4-8127-ECAC-9500BE7AD5E1}"/>
              </a:ext>
            </a:extLst>
          </p:cNvPr>
          <p:cNvSpPr txBox="1"/>
          <p:nvPr/>
        </p:nvSpPr>
        <p:spPr>
          <a:xfrm>
            <a:off x="8748358" y="5875024"/>
            <a:ext cx="2920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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linktr.ee/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gselifpe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528ECE-B5D5-DC55-1218-A0BD3E91B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150" y="4069678"/>
            <a:ext cx="1800833" cy="180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2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22511</TotalTime>
  <Words>674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ROTEIRO</vt:lpstr>
      <vt:lpstr>Introdução</vt:lpstr>
      <vt:lpstr>Introdução</vt:lpstr>
      <vt:lpstr>Introdução</vt:lpstr>
      <vt:lpstr>Objetivos</vt:lpstr>
      <vt:lpstr>Material e Métodos</vt:lpstr>
      <vt:lpstr>Resultados e Discussões</vt:lpstr>
      <vt:lpstr>Produções Realizadas</vt:lpstr>
      <vt:lpstr>Conclusões</vt:lpstr>
      <vt:lpstr>Trabalhos Futuros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Rocha</dc:creator>
  <cp:lastModifiedBy>Rafael Barros</cp:lastModifiedBy>
  <cp:revision>537</cp:revision>
  <cp:lastPrinted>2021-11-27T01:09:06Z</cp:lastPrinted>
  <dcterms:created xsi:type="dcterms:W3CDTF">2020-04-05T19:28:29Z</dcterms:created>
  <dcterms:modified xsi:type="dcterms:W3CDTF">2026-10-09T16:19:46Z</dcterms:modified>
</cp:coreProperties>
</file>